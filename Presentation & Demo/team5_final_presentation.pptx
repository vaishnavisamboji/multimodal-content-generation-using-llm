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</p:sldIdLst>
  <p:sldSz cy="6858000" cx="12192000"/>
  <p:notesSz cx="6858000" cy="9144000"/>
  <p:embeddedFontLst>
    <p:embeddedFont>
      <p:font typeface="Playfair Display"/>
      <p:regular r:id="rId26"/>
      <p:bold r:id="rId27"/>
      <p:italic r:id="rId28"/>
      <p:boldItalic r:id="rId29"/>
    </p:embeddedFont>
    <p:embeddedFont>
      <p:font typeface="Lato"/>
      <p:regular r:id="rId30"/>
      <p:bold r:id="rId31"/>
      <p:italic r:id="rId32"/>
      <p:boldItalic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PlayfairDisplay-regular.fntdata"/><Relationship Id="rId25" Type="http://schemas.openxmlformats.org/officeDocument/2006/relationships/slide" Target="slides/slide21.xml"/><Relationship Id="rId28" Type="http://schemas.openxmlformats.org/officeDocument/2006/relationships/font" Target="fonts/PlayfairDisplay-italic.fntdata"/><Relationship Id="rId27" Type="http://schemas.openxmlformats.org/officeDocument/2006/relationships/font" Target="fonts/PlayfairDisplay-bold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PlayfairDisplay-bold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Lato-bold.fntdata"/><Relationship Id="rId30" Type="http://schemas.openxmlformats.org/officeDocument/2006/relationships/font" Target="fonts/Lato-regular.fntdata"/><Relationship Id="rId11" Type="http://schemas.openxmlformats.org/officeDocument/2006/relationships/slide" Target="slides/slide7.xml"/><Relationship Id="rId33" Type="http://schemas.openxmlformats.org/officeDocument/2006/relationships/font" Target="fonts/Lato-boldItalic.fntdata"/><Relationship Id="rId10" Type="http://schemas.openxmlformats.org/officeDocument/2006/relationships/slide" Target="slides/slide6.xml"/><Relationship Id="rId32" Type="http://schemas.openxmlformats.org/officeDocument/2006/relationships/font" Target="fonts/Lato-italic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ae0f694e13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ae0f694e1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3665400" y="998400"/>
            <a:ext cx="4861200" cy="4861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3990600" y="1323600"/>
            <a:ext cx="4210800" cy="4210800"/>
          </a:xfrm>
          <a:prstGeom prst="rect">
            <a:avLst/>
          </a:prstGeom>
          <a:noFill/>
          <a:ln cap="flat" cmpd="sng" w="38100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4128333" y="2169600"/>
            <a:ext cx="3935100" cy="21123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4128483" y="4355907"/>
            <a:ext cx="3935100" cy="9351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fair Display"/>
              <a:buNone/>
              <a:defRPr b="1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fair Display"/>
              <a:buNone/>
              <a:defRPr b="1" sz="2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fair Display"/>
              <a:buNone/>
              <a:defRPr b="1" sz="2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fair Display"/>
              <a:buNone/>
              <a:defRPr b="1" sz="2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fair Display"/>
              <a:buNone/>
              <a:defRPr b="1" sz="2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fair Display"/>
              <a:buNone/>
              <a:defRPr b="1" sz="2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fair Display"/>
              <a:buNone/>
              <a:defRPr b="1" sz="2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fair Display"/>
              <a:buNone/>
              <a:defRPr b="1" sz="2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fair Display"/>
              <a:buNone/>
              <a:defRPr b="1" sz="2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11320333" y="6241346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679400" y="1898500"/>
            <a:ext cx="10833300" cy="23976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Font typeface="Lato"/>
              <a:buNone/>
              <a:defRPr b="0" sz="64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Font typeface="Lato"/>
              <a:buNone/>
              <a:defRPr b="0" sz="64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Font typeface="Lato"/>
              <a:buNone/>
              <a:defRPr b="0" sz="64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Font typeface="Lato"/>
              <a:buNone/>
              <a:defRPr b="0" sz="64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Font typeface="Lato"/>
              <a:buNone/>
              <a:defRPr b="0" sz="64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Font typeface="Lato"/>
              <a:buNone/>
              <a:defRPr b="0" sz="64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Font typeface="Lato"/>
              <a:buNone/>
              <a:defRPr b="0" sz="64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Font typeface="Lato"/>
              <a:buNone/>
              <a:defRPr b="0" sz="64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Font typeface="Lato"/>
              <a:buNone/>
              <a:defRPr b="0" sz="64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11320333" y="6241346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0" y="6727600"/>
            <a:ext cx="12192000" cy="130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 txBox="1"/>
          <p:nvPr>
            <p:ph type="title"/>
          </p:nvPr>
        </p:nvSpPr>
        <p:spPr>
          <a:xfrm>
            <a:off x="415600" y="521800"/>
            <a:ext cx="11360700" cy="8349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11320333" y="6241346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415600" y="521800"/>
            <a:ext cx="11360700" cy="8349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415600" y="1536633"/>
            <a:ext cx="5333100" cy="4555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49250" lvl="0" marL="45720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26" name="Google Shape;26;p5"/>
          <p:cNvSpPr txBox="1"/>
          <p:nvPr>
            <p:ph idx="2" type="body"/>
          </p:nvPr>
        </p:nvSpPr>
        <p:spPr>
          <a:xfrm>
            <a:off x="6443200" y="1536633"/>
            <a:ext cx="5333100" cy="4555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49250" lvl="0" marL="45720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27" name="Google Shape;27;p5"/>
          <p:cNvSpPr txBox="1"/>
          <p:nvPr>
            <p:ph idx="12" type="sldNum"/>
          </p:nvPr>
        </p:nvSpPr>
        <p:spPr>
          <a:xfrm>
            <a:off x="11320333" y="6241346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/>
          <p:nvPr>
            <p:ph type="title"/>
          </p:nvPr>
        </p:nvSpPr>
        <p:spPr>
          <a:xfrm>
            <a:off x="415600" y="521800"/>
            <a:ext cx="11360700" cy="8349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2" type="sldNum"/>
          </p:nvPr>
        </p:nvSpPr>
        <p:spPr>
          <a:xfrm>
            <a:off x="11320333" y="6241346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/>
          <p:nvPr>
            <p:ph type="title"/>
          </p:nvPr>
        </p:nvSpPr>
        <p:spPr>
          <a:xfrm>
            <a:off x="415600" y="740800"/>
            <a:ext cx="3744000" cy="10077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415600" y="1855170"/>
            <a:ext cx="3744000" cy="4239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34" name="Google Shape;34;p7"/>
          <p:cNvSpPr txBox="1"/>
          <p:nvPr>
            <p:ph idx="12" type="sldNum"/>
          </p:nvPr>
        </p:nvSpPr>
        <p:spPr>
          <a:xfrm>
            <a:off x="11320333" y="6241346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dk2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/>
          <p:nvPr>
            <p:ph type="title"/>
          </p:nvPr>
        </p:nvSpPr>
        <p:spPr>
          <a:xfrm>
            <a:off x="653667" y="701800"/>
            <a:ext cx="7491600" cy="54543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Font typeface="Lato"/>
              <a:buNone/>
              <a:defRPr b="0" sz="64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Font typeface="Lato"/>
              <a:buNone/>
              <a:defRPr b="0" sz="64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Font typeface="Lato"/>
              <a:buNone/>
              <a:defRPr b="0" sz="64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Font typeface="Lato"/>
              <a:buNone/>
              <a:defRPr b="0" sz="64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Font typeface="Lato"/>
              <a:buNone/>
              <a:defRPr b="0" sz="64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Font typeface="Lato"/>
              <a:buNone/>
              <a:defRPr b="0" sz="64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Font typeface="Lato"/>
              <a:buNone/>
              <a:defRPr b="0" sz="64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Font typeface="Lato"/>
              <a:buNone/>
              <a:defRPr b="0" sz="64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Font typeface="Lato"/>
              <a:buNone/>
              <a:defRPr b="0" sz="64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7" name="Google Shape;37;p8"/>
          <p:cNvSpPr txBox="1"/>
          <p:nvPr>
            <p:ph idx="12" type="sldNum"/>
          </p:nvPr>
        </p:nvSpPr>
        <p:spPr>
          <a:xfrm>
            <a:off x="11320333" y="6241346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6096000" y="-33"/>
            <a:ext cx="60960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0" name="Google Shape;40;p9"/>
          <p:cNvCxnSpPr/>
          <p:nvPr/>
        </p:nvCxnSpPr>
        <p:spPr>
          <a:xfrm>
            <a:off x="6706233" y="5994000"/>
            <a:ext cx="624300" cy="0"/>
          </a:xfrm>
          <a:prstGeom prst="straightConnector1">
            <a:avLst/>
          </a:prstGeom>
          <a:noFill/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9"/>
          <p:cNvSpPr txBox="1"/>
          <p:nvPr>
            <p:ph type="title"/>
          </p:nvPr>
        </p:nvSpPr>
        <p:spPr>
          <a:xfrm>
            <a:off x="354000" y="1477267"/>
            <a:ext cx="5393700" cy="22449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/>
        </p:txBody>
      </p:sp>
      <p:sp>
        <p:nvSpPr>
          <p:cNvPr id="42" name="Google Shape;42;p9"/>
          <p:cNvSpPr txBox="1"/>
          <p:nvPr>
            <p:ph idx="1" type="subTitle"/>
          </p:nvPr>
        </p:nvSpPr>
        <p:spPr>
          <a:xfrm>
            <a:off x="354000" y="3793601"/>
            <a:ext cx="5393700" cy="17940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43" name="Google Shape;43;p9"/>
          <p:cNvSpPr txBox="1"/>
          <p:nvPr>
            <p:ph idx="2" type="body"/>
          </p:nvPr>
        </p:nvSpPr>
        <p:spPr>
          <a:xfrm>
            <a:off x="6586000" y="965600"/>
            <a:ext cx="5115900" cy="49269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●"/>
              <a:defRPr>
                <a:solidFill>
                  <a:schemeClr val="lt1"/>
                </a:solidFill>
              </a:defRPr>
            </a:lvl1pPr>
            <a:lvl2pPr indent="-3492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○"/>
              <a:defRPr>
                <a:solidFill>
                  <a:schemeClr val="lt1"/>
                </a:solidFill>
              </a:defRPr>
            </a:lvl2pPr>
            <a:lvl3pPr indent="-3492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■"/>
              <a:defRPr>
                <a:solidFill>
                  <a:schemeClr val="lt1"/>
                </a:solidFill>
              </a:defRPr>
            </a:lvl3pPr>
            <a:lvl4pPr indent="-3492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●"/>
              <a:defRPr>
                <a:solidFill>
                  <a:schemeClr val="lt1"/>
                </a:solidFill>
              </a:defRPr>
            </a:lvl4pPr>
            <a:lvl5pPr indent="-3492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○"/>
              <a:defRPr>
                <a:solidFill>
                  <a:schemeClr val="lt1"/>
                </a:solidFill>
              </a:defRPr>
            </a:lvl5pPr>
            <a:lvl6pPr indent="-3492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■"/>
              <a:defRPr>
                <a:solidFill>
                  <a:schemeClr val="lt1"/>
                </a:solidFill>
              </a:defRPr>
            </a:lvl6pPr>
            <a:lvl7pPr indent="-3492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●"/>
              <a:defRPr>
                <a:solidFill>
                  <a:schemeClr val="lt1"/>
                </a:solidFill>
              </a:defRPr>
            </a:lvl7pPr>
            <a:lvl8pPr indent="-3492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○"/>
              <a:defRPr>
                <a:solidFill>
                  <a:schemeClr val="lt1"/>
                </a:solidFill>
              </a:defRPr>
            </a:lvl8pPr>
            <a:lvl9pPr indent="-3492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12" type="sldNum"/>
          </p:nvPr>
        </p:nvSpPr>
        <p:spPr>
          <a:xfrm>
            <a:off x="11320333" y="6241346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/>
          <p:nvPr>
            <p:ph idx="1" type="body"/>
          </p:nvPr>
        </p:nvSpPr>
        <p:spPr>
          <a:xfrm>
            <a:off x="426000" y="5640767"/>
            <a:ext cx="7998300" cy="7983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/>
        </p:txBody>
      </p:sp>
      <p:sp>
        <p:nvSpPr>
          <p:cNvPr id="47" name="Google Shape;47;p10"/>
          <p:cNvSpPr txBox="1"/>
          <p:nvPr>
            <p:ph idx="12" type="sldNum"/>
          </p:nvPr>
        </p:nvSpPr>
        <p:spPr>
          <a:xfrm>
            <a:off x="11320333" y="6241346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/>
          <p:nvPr/>
        </p:nvSpPr>
        <p:spPr>
          <a:xfrm>
            <a:off x="0" y="6727600"/>
            <a:ext cx="12192000" cy="130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415600" y="1644133"/>
            <a:ext cx="11360700" cy="21468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300"/>
              <a:buFont typeface="Lato"/>
              <a:buNone/>
              <a:defRPr sz="13300"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3300"/>
              <a:buFont typeface="Lato"/>
              <a:buNone/>
              <a:defRPr sz="13300"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3300"/>
              <a:buFont typeface="Lato"/>
              <a:buNone/>
              <a:defRPr sz="13300"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3300"/>
              <a:buFont typeface="Lato"/>
              <a:buNone/>
              <a:defRPr sz="13300"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3300"/>
              <a:buFont typeface="Lato"/>
              <a:buNone/>
              <a:defRPr sz="13300"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3300"/>
              <a:buFont typeface="Lato"/>
              <a:buNone/>
              <a:defRPr sz="13300"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3300"/>
              <a:buFont typeface="Lato"/>
              <a:buNone/>
              <a:defRPr sz="13300"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3300"/>
              <a:buFont typeface="Lato"/>
              <a:buNone/>
              <a:defRPr sz="13300"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3300"/>
              <a:buFont typeface="Lato"/>
              <a:buNone/>
              <a:defRPr sz="13300"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415600" y="3892600"/>
            <a:ext cx="11360700" cy="14289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 algn="ctr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ctr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ctr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11320333" y="6241346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11320333" y="6241346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coral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15600" y="521800"/>
            <a:ext cx="11360700" cy="8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300"/>
              <a:buFont typeface="Playfair Display"/>
              <a:buNone/>
              <a:defRPr b="1" sz="43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300"/>
              <a:buFont typeface="Playfair Display"/>
              <a:buNone/>
              <a:defRPr b="1" sz="43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300"/>
              <a:buFont typeface="Playfair Display"/>
              <a:buNone/>
              <a:defRPr b="1" sz="43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300"/>
              <a:buFont typeface="Playfair Display"/>
              <a:buNone/>
              <a:defRPr b="1" sz="43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300"/>
              <a:buFont typeface="Playfair Display"/>
              <a:buNone/>
              <a:defRPr b="1" sz="43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300"/>
              <a:buFont typeface="Playfair Display"/>
              <a:buNone/>
              <a:defRPr b="1" sz="43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300"/>
              <a:buFont typeface="Playfair Display"/>
              <a:buNone/>
              <a:defRPr b="1" sz="43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300"/>
              <a:buFont typeface="Playfair Display"/>
              <a:buNone/>
              <a:defRPr b="1" sz="43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300"/>
              <a:buFont typeface="Playfair Display"/>
              <a:buNone/>
              <a:defRPr b="1" sz="43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Lato"/>
              <a:buChar char="●"/>
              <a:defRPr sz="24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492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Lato"/>
              <a:buChar char="○"/>
              <a:defRPr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492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Lato"/>
              <a:buChar char="■"/>
              <a:defRPr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492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Lato"/>
              <a:buChar char="●"/>
              <a:defRPr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492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Lato"/>
              <a:buChar char="○"/>
              <a:defRPr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492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Lato"/>
              <a:buChar char="■"/>
              <a:defRPr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492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Lato"/>
              <a:buChar char="●"/>
              <a:defRPr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492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Lato"/>
              <a:buChar char="○"/>
              <a:defRPr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492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Lato"/>
              <a:buChar char="■"/>
              <a:defRPr sz="1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11320333" y="6241346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r">
              <a:buNone/>
              <a:defRPr sz="13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3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3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3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3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3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3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3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3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4128333" y="2169600"/>
            <a:ext cx="3935100" cy="2112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</a:pPr>
            <a:r>
              <a:rPr lang="en-US"/>
              <a:t>Multimodal AI Content Studio</a:t>
            </a:r>
            <a:endParaRPr/>
          </a:p>
        </p:txBody>
      </p:sp>
      <p:sp>
        <p:nvSpPr>
          <p:cNvPr id="60" name="Google Shape;60;p13"/>
          <p:cNvSpPr txBox="1"/>
          <p:nvPr>
            <p:ph idx="1" type="subTitle"/>
          </p:nvPr>
        </p:nvSpPr>
        <p:spPr>
          <a:xfrm>
            <a:off x="4128483" y="4355907"/>
            <a:ext cx="3935100" cy="9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Science Explanations · Summaries · Music · Images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/>
          <p:nvPr>
            <p:ph type="title"/>
          </p:nvPr>
        </p:nvSpPr>
        <p:spPr>
          <a:xfrm>
            <a:off x="415600" y="521800"/>
            <a:ext cx="11360700" cy="8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Agenda</a:t>
            </a:r>
            <a:endParaRPr/>
          </a:p>
        </p:txBody>
      </p:sp>
      <p:sp>
        <p:nvSpPr>
          <p:cNvPr id="66" name="Google Shape;66;p14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-295275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lang="en-US"/>
              <a:t>Project Introduction and Motivation</a:t>
            </a:r>
            <a:br>
              <a:rPr lang="en-US"/>
            </a:br>
            <a:endParaRPr/>
          </a:p>
          <a:p>
            <a:pPr indent="-29527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lang="en-US"/>
              <a:t>Background, Objectives and Needs</a:t>
            </a:r>
            <a:br>
              <a:rPr lang="en-US"/>
            </a:br>
            <a:endParaRPr/>
          </a:p>
          <a:p>
            <a:pPr indent="-29527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lang="en-US"/>
              <a:t>Data Engineering and Preprocessing</a:t>
            </a:r>
            <a:br>
              <a:rPr lang="en-US"/>
            </a:br>
            <a:endParaRPr/>
          </a:p>
          <a:p>
            <a:pPr indent="-29527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lang="en-US"/>
              <a:t>ML Modelling, Selection and Improvements</a:t>
            </a:r>
            <a:br>
              <a:rPr lang="en-US"/>
            </a:br>
            <a:endParaRPr/>
          </a:p>
          <a:p>
            <a:pPr indent="-29527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lang="en-US"/>
              <a:t>Evaluation Results and Insights</a:t>
            </a:r>
            <a:br>
              <a:rPr lang="en-US"/>
            </a:br>
            <a:endParaRPr/>
          </a:p>
          <a:p>
            <a:pPr indent="-29527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lang="en-US"/>
              <a:t>Web Portal &amp; Deployment (demo)</a:t>
            </a:r>
            <a:br>
              <a:rPr lang="en-US"/>
            </a:br>
            <a:endParaRPr/>
          </a:p>
          <a:p>
            <a:pPr indent="-295275" lvl="0" marL="228600" rtl="0" algn="l">
              <a:lnSpc>
                <a:spcPct val="90000"/>
              </a:lnSpc>
              <a:spcBef>
                <a:spcPts val="1000"/>
              </a:spcBef>
              <a:spcAft>
                <a:spcPts val="1600"/>
              </a:spcAft>
              <a:buClr>
                <a:schemeClr val="dk1"/>
              </a:buClr>
              <a:buSzPts val="2800"/>
              <a:buChar char="●"/>
            </a:pPr>
            <a:r>
              <a:rPr lang="en-US"/>
              <a:t>Lessons Learned and Future Work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/>
          <p:nvPr>
            <p:ph type="title"/>
          </p:nvPr>
        </p:nvSpPr>
        <p:spPr>
          <a:xfrm>
            <a:off x="415600" y="521800"/>
            <a:ext cx="11360700" cy="8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Project Introduction</a:t>
            </a:r>
            <a:endParaRPr/>
          </a:p>
        </p:txBody>
      </p:sp>
      <p:sp>
        <p:nvSpPr>
          <p:cNvPr id="72" name="Google Shape;72;p15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lang="en-US"/>
              <a:t>Built a multimodal AI system for social media and education.</a:t>
            </a:r>
            <a:br>
              <a:rPr lang="en-US"/>
            </a:b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lang="en-US"/>
              <a:t>System generates: science explanations, long-text summaries, background music, and illustrations.</a:t>
            </a:r>
            <a:br>
              <a:rPr lang="en-US"/>
            </a:b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lang="en-US"/>
              <a:t>Integrates four core models: Qwen2-VL, T5-small, MusicGen-small+CLAP, Stable Diffusion.</a:t>
            </a:r>
            <a:br>
              <a:rPr lang="en-US"/>
            </a:b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1600"/>
              </a:spcAft>
              <a:buClr>
                <a:schemeClr val="dk1"/>
              </a:buClr>
              <a:buSzPts val="2800"/>
              <a:buChar char="●"/>
            </a:pPr>
            <a:r>
              <a:rPr lang="en-US"/>
              <a:t>Exposed as a single web app and Hugging Face Space.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/>
          <p:nvPr>
            <p:ph type="title"/>
          </p:nvPr>
        </p:nvSpPr>
        <p:spPr>
          <a:xfrm>
            <a:off x="415600" y="521800"/>
            <a:ext cx="11360700" cy="8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Project Motivation</a:t>
            </a:r>
            <a:endParaRPr/>
          </a:p>
        </p:txBody>
      </p:sp>
      <p:sp>
        <p:nvSpPr>
          <p:cNvPr id="78" name="Google Shape;78;p16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41934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lang="en-US"/>
              <a:t>Creating good content (text, images, music) is time-consuming for creators and students.</a:t>
            </a:r>
            <a:br>
              <a:rPr lang="en-US"/>
            </a:br>
            <a:endParaRPr/>
          </a:p>
          <a:p>
            <a:pPr indent="-241934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lang="en-US"/>
              <a:t>Existing tools are fragmented: separate apps for images, summaries, and music.</a:t>
            </a:r>
            <a:br>
              <a:rPr lang="en-US"/>
            </a:br>
            <a:endParaRPr/>
          </a:p>
          <a:p>
            <a:pPr indent="-241934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lang="en-US"/>
              <a:t>Need a single system that turns one idea/prompt into aligned multimodal content.</a:t>
            </a:r>
            <a:br>
              <a:rPr lang="en-US"/>
            </a:br>
            <a:endParaRPr/>
          </a:p>
          <a:p>
            <a:pPr indent="-241934" lvl="0" marL="228600" rtl="0" algn="l">
              <a:lnSpc>
                <a:spcPct val="90000"/>
              </a:lnSpc>
              <a:spcBef>
                <a:spcPts val="1000"/>
              </a:spcBef>
              <a:spcAft>
                <a:spcPts val="1600"/>
              </a:spcAft>
              <a:buClr>
                <a:schemeClr val="dk1"/>
              </a:buClr>
              <a:buSzPts val="2800"/>
              <a:buChar char="●"/>
            </a:pPr>
            <a:r>
              <a:rPr lang="en-US"/>
              <a:t>Also aimed to learn how to fine-tune and deploy modern foundation models end-to-end.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7"/>
          <p:cNvSpPr txBox="1"/>
          <p:nvPr>
            <p:ph type="title"/>
          </p:nvPr>
        </p:nvSpPr>
        <p:spPr>
          <a:xfrm>
            <a:off x="415600" y="521800"/>
            <a:ext cx="11360700" cy="8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Background and Datasets</a:t>
            </a:r>
            <a:endParaRPr/>
          </a:p>
        </p:txBody>
      </p:sp>
      <p:sp>
        <p:nvSpPr>
          <p:cNvPr id="84" name="Google Shape;84;p17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41934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lang="en-US"/>
              <a:t>Foundation models: vision–language (Qwen2-VL), text (T5), audio (MusicGen), diffusion (Stable Diffusion).</a:t>
            </a:r>
            <a:br>
              <a:rPr lang="en-US"/>
            </a:br>
            <a:endParaRPr/>
          </a:p>
          <a:p>
            <a:pPr indent="-241934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lang="en-US"/>
              <a:t>ScienceQA: images + multiple-choice science questions for visual QA.</a:t>
            </a:r>
            <a:br>
              <a:rPr lang="en-US"/>
            </a:br>
            <a:endParaRPr/>
          </a:p>
          <a:p>
            <a:pPr indent="-241934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lang="en-US"/>
              <a:t>arXiv summarization: research articles + abstracts for text summarization.</a:t>
            </a:r>
            <a:br>
              <a:rPr lang="en-US"/>
            </a:br>
            <a:endParaRPr/>
          </a:p>
          <a:p>
            <a:pPr indent="-241934" lvl="0" marL="228600" rtl="0" algn="l">
              <a:lnSpc>
                <a:spcPct val="90000"/>
              </a:lnSpc>
              <a:spcBef>
                <a:spcPts val="1000"/>
              </a:spcBef>
              <a:spcAft>
                <a:spcPts val="1600"/>
              </a:spcAft>
              <a:buClr>
                <a:schemeClr val="dk1"/>
              </a:buClr>
              <a:buSzPts val="2800"/>
              <a:buChar char="●"/>
            </a:pPr>
            <a:r>
              <a:rPr lang="en-US"/>
              <a:t>GTZAN: genre-labelled music clips used as reference for audio evaluation (FAD_CLAP).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/>
          <p:nvPr>
            <p:ph type="title"/>
          </p:nvPr>
        </p:nvSpPr>
        <p:spPr>
          <a:xfrm>
            <a:off x="415600" y="521800"/>
            <a:ext cx="11360700" cy="8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Objectives and Needs</a:t>
            </a:r>
            <a:endParaRPr/>
          </a:p>
        </p:txBody>
      </p:sp>
      <p:sp>
        <p:nvSpPr>
          <p:cNvPr id="90" name="Google Shape;90;p18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10000"/>
          </a:bodyPr>
          <a:lstStyle/>
          <a:p>
            <a:pPr indent="-268605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16666"/>
              <a:buChar char="●"/>
            </a:pPr>
            <a:r>
              <a:rPr lang="en-US"/>
              <a:t>Main objective: build a multimodal assistant for content creators, students, and instructors.</a:t>
            </a:r>
            <a:br>
              <a:rPr lang="en-US"/>
            </a:br>
            <a:endParaRPr/>
          </a:p>
          <a:p>
            <a:pPr indent="-26860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16666"/>
              <a:buChar char="●"/>
            </a:pPr>
            <a:r>
              <a:rPr lang="en-US"/>
              <a:t>Functional goals:</a:t>
            </a:r>
            <a:br>
              <a:rPr lang="en-US"/>
            </a:br>
            <a:endParaRPr/>
          </a:p>
          <a:p>
            <a:pPr indent="-26860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16666"/>
              <a:buChar char="●"/>
            </a:pPr>
            <a:r>
              <a:rPr lang="en-US"/>
              <a:t>Generate images from text prompts.</a:t>
            </a:r>
            <a:br>
              <a:rPr lang="en-US"/>
            </a:br>
            <a:endParaRPr/>
          </a:p>
          <a:p>
            <a:pPr indent="-26860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16666"/>
              <a:buChar char="●"/>
            </a:pPr>
            <a:r>
              <a:rPr lang="en-US"/>
              <a:t>Generate background music from captions/themes.</a:t>
            </a:r>
            <a:br>
              <a:rPr lang="en-US"/>
            </a:br>
            <a:endParaRPr/>
          </a:p>
          <a:p>
            <a:pPr indent="-26860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16666"/>
              <a:buChar char="●"/>
            </a:pPr>
            <a:r>
              <a:rPr lang="en-US"/>
              <a:t>Answer multimodal science questions (image + text).</a:t>
            </a:r>
            <a:br>
              <a:rPr lang="en-US"/>
            </a:br>
            <a:endParaRPr/>
          </a:p>
          <a:p>
            <a:pPr indent="-26860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16666"/>
              <a:buChar char="●"/>
            </a:pPr>
            <a:r>
              <a:rPr lang="en-US"/>
              <a:t>Summarize long technical documents into concise abstracts.</a:t>
            </a:r>
            <a:br>
              <a:rPr lang="en-US"/>
            </a:br>
            <a:endParaRPr/>
          </a:p>
          <a:p>
            <a:pPr indent="-268605" lvl="0" marL="228600" rtl="0" algn="l">
              <a:lnSpc>
                <a:spcPct val="90000"/>
              </a:lnSpc>
              <a:spcBef>
                <a:spcPts val="1000"/>
              </a:spcBef>
              <a:spcAft>
                <a:spcPts val="1600"/>
              </a:spcAft>
              <a:buClr>
                <a:schemeClr val="dk1"/>
              </a:buClr>
              <a:buSzPct val="116666"/>
              <a:buChar char="●"/>
            </a:pPr>
            <a:r>
              <a:rPr lang="en-US"/>
              <a:t>Non-functional needs: interactive response times, modular design, single-GPU deployment.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 txBox="1"/>
          <p:nvPr>
            <p:ph type="title"/>
          </p:nvPr>
        </p:nvSpPr>
        <p:spPr>
          <a:xfrm>
            <a:off x="415600" y="521800"/>
            <a:ext cx="11360700" cy="8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System Overview</a:t>
            </a:r>
            <a:endParaRPr/>
          </a:p>
        </p:txBody>
      </p:sp>
      <p:sp>
        <p:nvSpPr>
          <p:cNvPr id="96" name="Google Shape;96;p19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lang="en-US"/>
              <a:t>Two main modes: Social Media and Education.</a:t>
            </a:r>
            <a:br>
              <a:rPr lang="en-US"/>
            </a:b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lang="en-US"/>
              <a:t>Frontend (web UI) sends JSON requests to a FastAPI backend.</a:t>
            </a:r>
            <a:br>
              <a:rPr lang="en-US"/>
            </a:b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lang="en-US"/>
              <a:t>Backend controller routes each request to the appropriate model service.</a:t>
            </a:r>
            <a:br>
              <a:rPr lang="en-US"/>
            </a:b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1600"/>
              </a:spcAft>
              <a:buClr>
                <a:schemeClr val="dk1"/>
              </a:buClr>
              <a:buSzPts val="2800"/>
              <a:buChar char="●"/>
            </a:pPr>
            <a:r>
              <a:rPr lang="en-US"/>
              <a:t>Model services: Qwen2-VL for QA, T5-small for summaries, MusicGen+CLAP for music, Stable Diffusion for images.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0"/>
          <p:cNvSpPr txBox="1"/>
          <p:nvPr>
            <p:ph type="title"/>
          </p:nvPr>
        </p:nvSpPr>
        <p:spPr>
          <a:xfrm>
            <a:off x="415600" y="521800"/>
            <a:ext cx="11360700" cy="8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System Architecture</a:t>
            </a:r>
            <a:endParaRPr/>
          </a:p>
        </p:txBody>
      </p:sp>
      <p:sp>
        <p:nvSpPr>
          <p:cNvPr id="102" name="Google Shape;102;p20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5527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lang="en-US"/>
              <a:t> Layers:</a:t>
            </a:r>
            <a:br>
              <a:rPr lang="en-US"/>
            </a:br>
            <a:endParaRPr/>
          </a:p>
          <a:p>
            <a:pPr indent="-25527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lang="en-US"/>
              <a:t> Frontend UI (React/Gradio in Hugging Face Space).</a:t>
            </a:r>
            <a:br>
              <a:rPr lang="en-US"/>
            </a:br>
            <a:endParaRPr/>
          </a:p>
          <a:p>
            <a:pPr indent="-25527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lang="en-US"/>
              <a:t> Backend controller/orchestrator (FastAPI).</a:t>
            </a:r>
            <a:br>
              <a:rPr lang="en-US"/>
            </a:br>
            <a:endParaRPr/>
          </a:p>
          <a:p>
            <a:pPr indent="-25527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lang="en-US"/>
              <a:t> Model services (Qwen2-VL, T5, MusicGen+CLAP, Stable Diffusion).</a:t>
            </a:r>
            <a:br>
              <a:rPr lang="en-US"/>
            </a:br>
            <a:endParaRPr/>
          </a:p>
          <a:p>
            <a:pPr indent="-25527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lang="en-US"/>
              <a:t> Data &amp; model store (fine-tuned checkpoints, configs on HF Hub/local).</a:t>
            </a:r>
            <a:br>
              <a:rPr lang="en-US"/>
            </a:br>
            <a:endParaRPr/>
          </a:p>
          <a:p>
            <a:pPr indent="-255270" lvl="0" marL="228600" rtl="0" algn="l">
              <a:lnSpc>
                <a:spcPct val="90000"/>
              </a:lnSpc>
              <a:spcBef>
                <a:spcPts val="1000"/>
              </a:spcBef>
              <a:spcAft>
                <a:spcPts val="1600"/>
              </a:spcAft>
              <a:buClr>
                <a:schemeClr val="dk1"/>
              </a:buClr>
              <a:buSzPts val="2800"/>
              <a:buChar char="●"/>
            </a:pPr>
            <a:r>
              <a:rPr lang="en-US"/>
              <a:t> Designed so models can be swapped/updated without breaking the   UI.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1"/>
          <p:cNvSpPr txBox="1"/>
          <p:nvPr>
            <p:ph type="title"/>
          </p:nvPr>
        </p:nvSpPr>
        <p:spPr>
          <a:xfrm>
            <a:off x="415600" y="521800"/>
            <a:ext cx="11360700" cy="8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Data Engineering – ScienceQA and arXiv</a:t>
            </a:r>
            <a:endParaRPr/>
          </a:p>
        </p:txBody>
      </p:sp>
      <p:sp>
        <p:nvSpPr>
          <p:cNvPr id="108" name="Google Shape;108;p21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-295275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lang="en-US"/>
              <a:t>ScienceQA:</a:t>
            </a:r>
            <a:br>
              <a:rPr lang="en-US"/>
            </a:br>
            <a:endParaRPr/>
          </a:p>
          <a:p>
            <a:pPr indent="-29527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lang="en-US"/>
              <a:t> Loaded via Hugging Face Datasets.</a:t>
            </a:r>
            <a:br>
              <a:rPr lang="en-US"/>
            </a:br>
            <a:endParaRPr/>
          </a:p>
          <a:p>
            <a:pPr indent="-29527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lang="en-US"/>
              <a:t>  Filtered to keep only questions with valid images.</a:t>
            </a:r>
            <a:br>
              <a:rPr lang="en-US"/>
            </a:br>
            <a:endParaRPr/>
          </a:p>
          <a:p>
            <a:pPr indent="-29527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lang="en-US"/>
              <a:t>  Reformatted into chat-style (system, user, assistant) for Qwen2-VL.</a:t>
            </a:r>
            <a:br>
              <a:rPr lang="en-US"/>
            </a:br>
            <a:endParaRPr/>
          </a:p>
          <a:p>
            <a:pPr indent="-29527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lang="en-US"/>
              <a:t>   arXiv summarization:</a:t>
            </a:r>
            <a:br>
              <a:rPr lang="en-US"/>
            </a:br>
            <a:endParaRPr/>
          </a:p>
          <a:p>
            <a:pPr indent="-29527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lang="en-US"/>
              <a:t>   Used 30k train / 2k val / 1k test subset.</a:t>
            </a:r>
            <a:br>
              <a:rPr lang="en-US"/>
            </a:br>
            <a:endParaRPr/>
          </a:p>
          <a:p>
            <a:pPr indent="-295275" lvl="0" marL="228600" rtl="0" algn="l">
              <a:lnSpc>
                <a:spcPct val="90000"/>
              </a:lnSpc>
              <a:spcBef>
                <a:spcPts val="1000"/>
              </a:spcBef>
              <a:spcAft>
                <a:spcPts val="1600"/>
              </a:spcAft>
              <a:buClr>
                <a:schemeClr val="dk1"/>
              </a:buClr>
              <a:buSzPts val="2800"/>
              <a:buChar char="●"/>
            </a:pPr>
            <a:r>
              <a:rPr lang="en-US"/>
              <a:t>   Inputs: article bodies; Targets: abstracts; max input 512 tokens, max target 128.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2"/>
          <p:cNvSpPr txBox="1"/>
          <p:nvPr>
            <p:ph type="title"/>
          </p:nvPr>
        </p:nvSpPr>
        <p:spPr>
          <a:xfrm>
            <a:off x="415600" y="521800"/>
            <a:ext cx="11360700" cy="8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Data Engineering – GTZAN and Audio</a:t>
            </a:r>
            <a:endParaRPr/>
          </a:p>
        </p:txBody>
      </p:sp>
      <p:sp>
        <p:nvSpPr>
          <p:cNvPr id="114" name="Google Shape;114;p22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lang="en-US"/>
              <a:t>GTZAN dataset used as reference audio for evaluation.</a:t>
            </a:r>
            <a:br>
              <a:rPr lang="en-US"/>
            </a:b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lang="en-US"/>
              <a:t> Extracted duration, RMS loudness, pitch (YIN) and mel-spectrogram features.</a:t>
            </a:r>
            <a:br>
              <a:rPr lang="en-US"/>
            </a:b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lang="en-US"/>
              <a:t> Filtered out abnormal clips (very short/long) to build a clean reference set.</a:t>
            </a:r>
            <a:br>
              <a:rPr lang="en-US"/>
            </a:b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1600"/>
              </a:spcAft>
              <a:buClr>
                <a:schemeClr val="dk1"/>
              </a:buClr>
              <a:buSzPts val="2800"/>
              <a:buChar char="●"/>
            </a:pPr>
            <a:r>
              <a:rPr lang="en-US"/>
              <a:t>  Ensured consistent sampling rates and formats for Librosa and CLAP.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3"/>
          <p:cNvSpPr txBox="1"/>
          <p:nvPr>
            <p:ph type="title"/>
          </p:nvPr>
        </p:nvSpPr>
        <p:spPr>
          <a:xfrm>
            <a:off x="415600" y="521800"/>
            <a:ext cx="11360700" cy="8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ML Modelling Overview</a:t>
            </a:r>
            <a:endParaRPr/>
          </a:p>
        </p:txBody>
      </p:sp>
      <p:sp>
        <p:nvSpPr>
          <p:cNvPr id="120" name="Google Shape;120;p23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• Qwen2-VL: vision–language model for diagram-based QA.</a:t>
            </a:r>
            <a:br>
              <a:rPr lang="en-US"/>
            </a:br>
            <a:endParaRPr/>
          </a:p>
          <a:p>
            <a:pPr indent="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• T5-small: encoder–decoder model for abstractive summarization.</a:t>
            </a:r>
            <a:br>
              <a:rPr lang="en-US"/>
            </a:br>
            <a:endParaRPr/>
          </a:p>
          <a:p>
            <a:pPr indent="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• MusicGen-small + CLAP: text-to-music generation with alignment scoring.</a:t>
            </a:r>
            <a:br>
              <a:rPr lang="en-US"/>
            </a:br>
            <a:endParaRPr/>
          </a:p>
          <a:p>
            <a:pPr indent="0" lvl="0" marL="228600" rtl="0" algn="l">
              <a:lnSpc>
                <a:spcPct val="90000"/>
              </a:lnSpc>
              <a:spcBef>
                <a:spcPts val="1000"/>
              </a:spcBef>
              <a:spcAft>
                <a:spcPts val="1600"/>
              </a:spcAft>
              <a:buNone/>
            </a:pPr>
            <a:r>
              <a:rPr lang="en-US"/>
              <a:t>• Stable Diffusion: latent diffusion model for text-to-image generation.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4"/>
          <p:cNvSpPr txBox="1"/>
          <p:nvPr>
            <p:ph type="title"/>
          </p:nvPr>
        </p:nvSpPr>
        <p:spPr>
          <a:xfrm>
            <a:off x="415600" y="521800"/>
            <a:ext cx="11360700" cy="8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Qwen2-VL – Visual Question Answering</a:t>
            </a:r>
            <a:endParaRPr/>
          </a:p>
        </p:txBody>
      </p:sp>
      <p:sp>
        <p:nvSpPr>
          <p:cNvPr id="126" name="Google Shape;126;p24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• Base model: Qwen/Qwen2-VL-2B-Instruct.</a:t>
            </a:r>
            <a:br>
              <a:rPr lang="en-US"/>
            </a:br>
            <a:endParaRPr/>
          </a:p>
          <a:p>
            <a:pPr indent="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• Input: image + question + options; Output: chosen option + explanation.</a:t>
            </a:r>
            <a:br>
              <a:rPr lang="en-US"/>
            </a:br>
            <a:endParaRPr/>
          </a:p>
          <a:p>
            <a:pPr indent="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• Fine-tuned with LoRA (r=16, lora_alpha=32, dropout=0.05) on ScienceQA.</a:t>
            </a:r>
            <a:br>
              <a:rPr lang="en-US"/>
            </a:br>
            <a:endParaRPr/>
          </a:p>
          <a:p>
            <a:pPr indent="0" lvl="0" marL="228600" rtl="0" algn="l">
              <a:lnSpc>
                <a:spcPct val="90000"/>
              </a:lnSpc>
              <a:spcBef>
                <a:spcPts val="1000"/>
              </a:spcBef>
              <a:spcAft>
                <a:spcPts val="1600"/>
              </a:spcAft>
              <a:buNone/>
            </a:pPr>
            <a:r>
              <a:rPr lang="en-US"/>
              <a:t>• Achieved ~2–3% absolute accuracy gain and stronger reliance on images.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5"/>
          <p:cNvSpPr txBox="1"/>
          <p:nvPr>
            <p:ph type="title"/>
          </p:nvPr>
        </p:nvSpPr>
        <p:spPr>
          <a:xfrm>
            <a:off x="415600" y="521800"/>
            <a:ext cx="11360700" cy="8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T5-small – Scientific Summarisation</a:t>
            </a:r>
            <a:endParaRPr/>
          </a:p>
        </p:txBody>
      </p:sp>
      <p:sp>
        <p:nvSpPr>
          <p:cNvPr id="132" name="Google Shape;132;p25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• Base model: t5-small.</a:t>
            </a:r>
            <a:br>
              <a:rPr lang="en-US"/>
            </a:br>
            <a:endParaRPr/>
          </a:p>
          <a:p>
            <a:pPr indent="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• Task: article ? abstract with "summarize:" prefix.</a:t>
            </a:r>
            <a:br>
              <a:rPr lang="en-US"/>
            </a:br>
            <a:endParaRPr/>
          </a:p>
          <a:p>
            <a:pPr indent="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• Fine-tuned on 30k arXiv articles using Seq2SeqTrainer.</a:t>
            </a:r>
            <a:br>
              <a:rPr lang="en-US"/>
            </a:br>
            <a:endParaRPr/>
          </a:p>
          <a:p>
            <a:pPr indent="0" lvl="0" marL="228600" rtl="0" algn="l">
              <a:lnSpc>
                <a:spcPct val="90000"/>
              </a:lnSpc>
              <a:spcBef>
                <a:spcPts val="1000"/>
              </a:spcBef>
              <a:spcAft>
                <a:spcPts val="1600"/>
              </a:spcAft>
              <a:buNone/>
            </a:pPr>
            <a:r>
              <a:rPr lang="en-US"/>
              <a:t>• Evaluation vs base: +28% ROUGE-1/ROUGE-L, +46% ROUGE-2, 4? BLEU, +35% METEOR, ~80% lower perplexity.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6"/>
          <p:cNvSpPr txBox="1"/>
          <p:nvPr>
            <p:ph type="title"/>
          </p:nvPr>
        </p:nvSpPr>
        <p:spPr>
          <a:xfrm>
            <a:off x="415600" y="521800"/>
            <a:ext cx="11360700" cy="8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MusicGen + CLAP – Text-to-Music</a:t>
            </a:r>
            <a:endParaRPr/>
          </a:p>
        </p:txBody>
      </p:sp>
      <p:sp>
        <p:nvSpPr>
          <p:cNvPr id="138" name="Google Shape;138;p26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• Generators: MusicGen-small (ours) and MusicGen-large (baseline).</a:t>
            </a:r>
            <a:br>
              <a:rPr lang="en-US"/>
            </a:br>
            <a:endParaRPr/>
          </a:p>
          <a:p>
            <a:pPr indent="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• Scorer: CLAP embeddings for text and audio (cosine similarity).</a:t>
            </a:r>
            <a:br>
              <a:rPr lang="en-US"/>
            </a:br>
            <a:endParaRPr/>
          </a:p>
          <a:p>
            <a:pPr indent="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• Implemented best-of-K decoding: sample K clips, pick highest CLAP score.</a:t>
            </a:r>
            <a:br>
              <a:rPr lang="en-US"/>
            </a:br>
            <a:endParaRPr/>
          </a:p>
          <a:p>
            <a:pPr indent="0" lvl="0" marL="228600" rtl="0" algn="l">
              <a:lnSpc>
                <a:spcPct val="90000"/>
              </a:lnSpc>
              <a:spcBef>
                <a:spcPts val="1000"/>
              </a:spcBef>
              <a:spcAft>
                <a:spcPts val="1600"/>
              </a:spcAft>
              <a:buNone/>
            </a:pPr>
            <a:r>
              <a:rPr lang="en-US"/>
              <a:t>• Result: FAD_CLAP ~0.91 vs ~0.97 (base small) and ~0.93 (large), better text–audio alignment.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7"/>
          <p:cNvSpPr txBox="1"/>
          <p:nvPr>
            <p:ph type="title"/>
          </p:nvPr>
        </p:nvSpPr>
        <p:spPr>
          <a:xfrm>
            <a:off x="415600" y="521800"/>
            <a:ext cx="11360700" cy="8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Stable Diffusion – Image Generation</a:t>
            </a:r>
            <a:endParaRPr/>
          </a:p>
        </p:txBody>
      </p:sp>
      <p:sp>
        <p:nvSpPr>
          <p:cNvPr id="144" name="Google Shape;144;p27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• Used Stable Diffusion via Hugging Face Diffusers.</a:t>
            </a:r>
            <a:br>
              <a:rPr lang="en-US"/>
            </a:br>
            <a:endParaRPr/>
          </a:p>
          <a:p>
            <a:pPr indent="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• Generates thumbnails and educational illustrations from text prompts.</a:t>
            </a:r>
            <a:br>
              <a:rPr lang="en-US"/>
            </a:br>
            <a:endParaRPr/>
          </a:p>
          <a:p>
            <a:pPr indent="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• No heavy fine-tuning; relied on prompt engineering and configuration (guidance scale, steps).</a:t>
            </a:r>
            <a:br>
              <a:rPr lang="en-US"/>
            </a:br>
            <a:endParaRPr/>
          </a:p>
          <a:p>
            <a:pPr indent="0" lvl="0" marL="228600" rtl="0" algn="l">
              <a:lnSpc>
                <a:spcPct val="90000"/>
              </a:lnSpc>
              <a:spcBef>
                <a:spcPts val="1000"/>
              </a:spcBef>
              <a:spcAft>
                <a:spcPts val="1600"/>
              </a:spcAft>
              <a:buNone/>
            </a:pPr>
            <a:r>
              <a:rPr lang="en-US"/>
              <a:t>•</a:t>
            </a:r>
            <a:r>
              <a:rPr lang="en-US"/>
              <a:t> Qualitatively produced on-topic, visually coherent images for our use cases.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8"/>
          <p:cNvSpPr txBox="1"/>
          <p:nvPr>
            <p:ph type="title"/>
          </p:nvPr>
        </p:nvSpPr>
        <p:spPr>
          <a:xfrm>
            <a:off x="415600" y="521800"/>
            <a:ext cx="11360700" cy="8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ML Evaluation – Qwen2-VL and T5-small</a:t>
            </a:r>
            <a:endParaRPr/>
          </a:p>
        </p:txBody>
      </p:sp>
      <p:sp>
        <p:nvSpPr>
          <p:cNvPr id="150" name="Google Shape;150;p28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5527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lang="en-US"/>
              <a:t> Qwen2-VL on ScienceQA:</a:t>
            </a:r>
            <a:br>
              <a:rPr lang="en-US"/>
            </a:br>
            <a:endParaRPr/>
          </a:p>
          <a:p>
            <a:pPr indent="-25527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lang="en-US"/>
              <a:t>  ~2–3% absolute accuracy improvement vs base on validation subset.</a:t>
            </a:r>
            <a:br>
              <a:rPr lang="en-US"/>
            </a:br>
            <a:endParaRPr/>
          </a:p>
          <a:p>
            <a:pPr indent="-25527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lang="en-US"/>
              <a:t>   Larger gap between image vs text-only accuracy ? better visual grounding.</a:t>
            </a:r>
            <a:br>
              <a:rPr lang="en-US"/>
            </a:br>
            <a:endParaRPr/>
          </a:p>
          <a:p>
            <a:pPr indent="-25527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lang="en-US"/>
              <a:t>  T5-small on arXiv summarization:</a:t>
            </a:r>
            <a:br>
              <a:rPr lang="en-US"/>
            </a:br>
            <a:endParaRPr/>
          </a:p>
          <a:p>
            <a:pPr indent="-25527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lang="en-US"/>
              <a:t>  +28% ROUGE-1/ROUGE-L, +46% ROUGE-2, 4? BLEU, +35% METEOR.</a:t>
            </a:r>
            <a:br>
              <a:rPr lang="en-US"/>
            </a:br>
            <a:endParaRPr/>
          </a:p>
          <a:p>
            <a:pPr indent="-255270" lvl="0" marL="228600" rtl="0" algn="l">
              <a:lnSpc>
                <a:spcPct val="90000"/>
              </a:lnSpc>
              <a:spcBef>
                <a:spcPts val="1000"/>
              </a:spcBef>
              <a:spcAft>
                <a:spcPts val="1600"/>
              </a:spcAft>
              <a:buClr>
                <a:schemeClr val="dk1"/>
              </a:buClr>
              <a:buSzPts val="2800"/>
              <a:buChar char="●"/>
            </a:pPr>
            <a:r>
              <a:rPr lang="en-US"/>
              <a:t>  ~80% lower perplexity; summaries closer to human abstracts.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9"/>
          <p:cNvSpPr txBox="1"/>
          <p:nvPr>
            <p:ph type="title"/>
          </p:nvPr>
        </p:nvSpPr>
        <p:spPr>
          <a:xfrm>
            <a:off x="415600" y="521800"/>
            <a:ext cx="11360700" cy="8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ML Evaluation – Music and Images</a:t>
            </a:r>
            <a:endParaRPr/>
          </a:p>
        </p:txBody>
      </p:sp>
      <p:sp>
        <p:nvSpPr>
          <p:cNvPr id="156" name="Google Shape;156;p29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-28194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lang="en-US"/>
              <a:t>Music (MusicGen + CLAP):</a:t>
            </a:r>
            <a:br>
              <a:rPr lang="en-US"/>
            </a:br>
            <a:endParaRPr/>
          </a:p>
          <a:p>
            <a:pPr indent="-28194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lang="en-US"/>
              <a:t> FAD_CLAP to GTZAN: ~0.97 (base small), ~0.91 (CLAP-guided small), ~0.93 (large).</a:t>
            </a:r>
            <a:br>
              <a:rPr lang="en-US"/>
            </a:br>
            <a:endParaRPr/>
          </a:p>
          <a:p>
            <a:pPr indent="-28194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lang="en-US"/>
              <a:t>  CLAP scores and listening tests show better text–audio match for guided model.</a:t>
            </a:r>
            <a:br>
              <a:rPr lang="en-US"/>
            </a:br>
            <a:endParaRPr/>
          </a:p>
          <a:p>
            <a:pPr indent="-28194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lang="en-US"/>
              <a:t>  Images (Stable Diffusion):</a:t>
            </a:r>
            <a:br>
              <a:rPr lang="en-US"/>
            </a:br>
            <a:endParaRPr/>
          </a:p>
          <a:p>
            <a:pPr indent="-28194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lang="en-US"/>
              <a:t>  Evaluated qualitatively; prompts produced relevant, coherent images.</a:t>
            </a:r>
            <a:br>
              <a:rPr lang="en-US"/>
            </a:br>
            <a:endParaRPr/>
          </a:p>
          <a:p>
            <a:pPr indent="-281940" lvl="0" marL="228600" rtl="0" algn="l">
              <a:lnSpc>
                <a:spcPct val="90000"/>
              </a:lnSpc>
              <a:spcBef>
                <a:spcPts val="1000"/>
              </a:spcBef>
              <a:spcAft>
                <a:spcPts val="1600"/>
              </a:spcAft>
              <a:buClr>
                <a:schemeClr val="dk1"/>
              </a:buClr>
              <a:buSzPts val="2800"/>
              <a:buChar char="●"/>
            </a:pPr>
            <a:r>
              <a:rPr lang="en-US"/>
              <a:t>  Some artefacts on abstract or very complex prompts ? mitigated by prompt tuning.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30"/>
          <p:cNvSpPr txBox="1"/>
          <p:nvPr>
            <p:ph type="title"/>
          </p:nvPr>
        </p:nvSpPr>
        <p:spPr>
          <a:xfrm>
            <a:off x="415600" y="521800"/>
            <a:ext cx="11360700" cy="8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Web Portal and Deployment</a:t>
            </a:r>
            <a:endParaRPr/>
          </a:p>
        </p:txBody>
      </p:sp>
      <p:sp>
        <p:nvSpPr>
          <p:cNvPr id="162" name="Google Shape;162;p30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lang="en-US"/>
              <a:t> Deployed as a Hugging Face Space with GPU runtime.</a:t>
            </a:r>
            <a:br>
              <a:rPr lang="en-US"/>
            </a:b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lang="en-US"/>
              <a:t> Frontend (React/Gradio) + backend (FastAPI) in a single container.</a:t>
            </a:r>
            <a:br>
              <a:rPr lang="en-US"/>
            </a:b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lang="en-US"/>
              <a:t> Models loaded via Hugging Face Hub using from_pretrained APIs.</a:t>
            </a:r>
            <a:br>
              <a:rPr lang="en-US"/>
            </a:b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1600"/>
              </a:spcAft>
              <a:buClr>
                <a:schemeClr val="dk1"/>
              </a:buClr>
              <a:buSzPts val="2800"/>
              <a:buChar char="●"/>
            </a:pPr>
            <a:r>
              <a:rPr lang="en-US"/>
              <a:t> Users can switch modes, submit prompts/images and see all outputs in one interface.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31"/>
          <p:cNvSpPr txBox="1"/>
          <p:nvPr>
            <p:ph type="title"/>
          </p:nvPr>
        </p:nvSpPr>
        <p:spPr>
          <a:xfrm>
            <a:off x="415600" y="521800"/>
            <a:ext cx="11360700" cy="8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Achievements and Lessons Learned</a:t>
            </a:r>
            <a:endParaRPr/>
          </a:p>
        </p:txBody>
      </p:sp>
      <p:sp>
        <p:nvSpPr>
          <p:cNvPr id="168" name="Google Shape;168;p31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28194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16666"/>
              <a:buChar char="●"/>
            </a:pPr>
            <a:r>
              <a:rPr lang="en-US"/>
              <a:t>Achievements:</a:t>
            </a:r>
            <a:br>
              <a:rPr lang="en-US"/>
            </a:br>
            <a:endParaRPr/>
          </a:p>
          <a:p>
            <a:pPr indent="-28194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16666"/>
              <a:buChar char="●"/>
            </a:pPr>
            <a:r>
              <a:rPr lang="en-US"/>
              <a:t> Delivered a working multimodal assistant (QA, summaries, music, images).</a:t>
            </a:r>
            <a:br>
              <a:rPr lang="en-US"/>
            </a:br>
            <a:endParaRPr/>
          </a:p>
          <a:p>
            <a:pPr indent="-28194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16666"/>
              <a:buChar char="●"/>
            </a:pPr>
            <a:r>
              <a:rPr lang="en-US"/>
              <a:t>  Fine-tuned and evaluated three different model families with clear gains over baselines.</a:t>
            </a:r>
            <a:br>
              <a:rPr lang="en-US"/>
            </a:br>
            <a:endParaRPr/>
          </a:p>
          <a:p>
            <a:pPr indent="-28194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16666"/>
              <a:buChar char="●"/>
            </a:pPr>
            <a:r>
              <a:rPr lang="en-US"/>
              <a:t>  Lessons learned:</a:t>
            </a:r>
            <a:br>
              <a:rPr lang="en-US"/>
            </a:br>
            <a:endParaRPr/>
          </a:p>
          <a:p>
            <a:pPr indent="-28194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16666"/>
              <a:buChar char="●"/>
            </a:pPr>
            <a:r>
              <a:rPr lang="en-US"/>
              <a:t>  GPU limits strongly drive design choices (LoRA, subset training, best-of-K).</a:t>
            </a:r>
            <a:br>
              <a:rPr lang="en-US"/>
            </a:br>
            <a:endParaRPr/>
          </a:p>
          <a:p>
            <a:pPr indent="-28194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16666"/>
              <a:buChar char="●"/>
            </a:pPr>
            <a:r>
              <a:rPr lang="en-US"/>
              <a:t>  Good evaluation design (metrics + qualitative) is as important as modelling.</a:t>
            </a:r>
            <a:br>
              <a:rPr lang="en-US"/>
            </a:br>
            <a:endParaRPr/>
          </a:p>
          <a:p>
            <a:pPr indent="-281940" lvl="0" marL="228600" rtl="0" algn="l">
              <a:lnSpc>
                <a:spcPct val="90000"/>
              </a:lnSpc>
              <a:spcBef>
                <a:spcPts val="1000"/>
              </a:spcBef>
              <a:spcAft>
                <a:spcPts val="1600"/>
              </a:spcAft>
              <a:buClr>
                <a:schemeClr val="dk1"/>
              </a:buClr>
              <a:buSzPct val="116666"/>
              <a:buChar char="●"/>
            </a:pPr>
            <a:r>
              <a:rPr lang="en-US"/>
              <a:t>  Clean service interfaces make integration and deployment much easier.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2"/>
          <p:cNvSpPr txBox="1"/>
          <p:nvPr>
            <p:ph type="title"/>
          </p:nvPr>
        </p:nvSpPr>
        <p:spPr>
          <a:xfrm>
            <a:off x="415600" y="521800"/>
            <a:ext cx="11360700" cy="8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Future Work and Closing</a:t>
            </a:r>
            <a:endParaRPr/>
          </a:p>
        </p:txBody>
      </p:sp>
      <p:sp>
        <p:nvSpPr>
          <p:cNvPr id="174" name="Google Shape;174;p32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-268605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lang="en-US"/>
              <a:t>Extend evaluation: full ScienceQA test, larger arXiv test set, user studies for image/music quality.</a:t>
            </a:r>
            <a:br>
              <a:rPr lang="en-US"/>
            </a:br>
            <a:endParaRPr/>
          </a:p>
          <a:p>
            <a:pPr indent="-26860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lang="en-US"/>
              <a:t>Add more controls: summary length, image style presets, music genre/tempo options.</a:t>
            </a:r>
            <a:br>
              <a:rPr lang="en-US"/>
            </a:br>
            <a:endParaRPr/>
          </a:p>
          <a:p>
            <a:pPr indent="-26860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lang="en-US"/>
              <a:t>Improve robustness: larger models, better datasets, retrieval-augmented QA to reduce hallucinations.</a:t>
            </a:r>
            <a:br>
              <a:rPr lang="en-US"/>
            </a:br>
            <a:endParaRPr/>
          </a:p>
          <a:p>
            <a:pPr indent="-26860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lang="en-US"/>
              <a:t>Optimise deployment: model compression, latency logging, user accounts and access control.</a:t>
            </a:r>
            <a:br>
              <a:rPr lang="en-US"/>
            </a:b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3"/>
          <p:cNvSpPr txBox="1"/>
          <p:nvPr>
            <p:ph type="title"/>
          </p:nvPr>
        </p:nvSpPr>
        <p:spPr>
          <a:xfrm>
            <a:off x="415600" y="521800"/>
            <a:ext cx="11360700" cy="8349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33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2286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                               </a:t>
            </a:r>
            <a:endParaRPr/>
          </a:p>
          <a:p>
            <a:pPr indent="0" lvl="0" marL="2286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2286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2286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-US"/>
              <a:t>                                  </a:t>
            </a:r>
            <a:r>
              <a:rPr lang="en-US"/>
              <a:t>  </a:t>
            </a:r>
            <a:r>
              <a:rPr lang="en-US"/>
              <a:t> </a:t>
            </a:r>
            <a:r>
              <a:rPr lang="en-US" sz="5500"/>
              <a:t>Thank you!</a:t>
            </a:r>
            <a:endParaRPr sz="55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oral">
  <a:themeElements>
    <a:clrScheme name="Coral">
      <a:dk1>
        <a:srgbClr val="F55E61"/>
      </a:dk1>
      <a:lt1>
        <a:srgbClr val="FFFFFF"/>
      </a:lt1>
      <a:dk2>
        <a:srgbClr val="5E696C"/>
      </a:dk2>
      <a:lt2>
        <a:srgbClr val="BFC7CA"/>
      </a:lt2>
      <a:accent1>
        <a:srgbClr val="1E2D31"/>
      </a:accent1>
      <a:accent2>
        <a:srgbClr val="273C42"/>
      </a:accent2>
      <a:accent3>
        <a:srgbClr val="83D061"/>
      </a:accent3>
      <a:accent4>
        <a:srgbClr val="F6CD4C"/>
      </a:accent4>
      <a:accent5>
        <a:srgbClr val="AF4345"/>
      </a:accent5>
      <a:accent6>
        <a:srgbClr val="F58F8F"/>
      </a:accent6>
      <a:hlink>
        <a:srgbClr val="AF4345"/>
      </a:hlink>
      <a:folHlink>
        <a:srgbClr val="AF434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